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62" r:id="rId4"/>
    <p:sldId id="257" r:id="rId5"/>
    <p:sldId id="258" r:id="rId6"/>
    <p:sldId id="259" r:id="rId7"/>
    <p:sldId id="260" r:id="rId8"/>
    <p:sldId id="261"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78"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2" Type="http://schemas.openxmlformats.org/officeDocument/2006/relationships/tableStyles" Target="tableStyles.xml"/><Relationship Id="rId11" Type="http://schemas.openxmlformats.org/officeDocument/2006/relationships/viewProps" Target="viewProps.xml"/><Relationship Id="rId10" Type="http://schemas.openxmlformats.org/officeDocument/2006/relationships/presProps" Target="presProps.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30FBF64-7D4B-41DB-ADAD-E148C5997C7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315A4E8-F9B2-4B80-B594-FA4297E852EA}"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930FBF64-7D4B-41DB-ADAD-E148C5997C7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315A4E8-F9B2-4B80-B594-FA4297E852EA}"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930FBF64-7D4B-41DB-ADAD-E148C5997C7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315A4E8-F9B2-4B80-B594-FA4297E852EA}"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Date Placeholder 4"/>
          <p:cNvSpPr>
            <a:spLocks noGrp="1"/>
          </p:cNvSpPr>
          <p:nvPr>
            <p:ph type="dt" sz="half" idx="10"/>
          </p:nvPr>
        </p:nvSpPr>
        <p:spPr/>
        <p:txBody>
          <a:bodyPr/>
          <a:lstStyle/>
          <a:p>
            <a:fld id="{930FBF64-7D4B-41DB-ADAD-E148C5997C7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315A4E8-F9B2-4B80-B594-FA4297E852EA}"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7" name="Date Placeholder 6"/>
          <p:cNvSpPr>
            <a:spLocks noGrp="1"/>
          </p:cNvSpPr>
          <p:nvPr>
            <p:ph type="dt" sz="half" idx="10"/>
          </p:nvPr>
        </p:nvSpPr>
        <p:spPr/>
        <p:txBody>
          <a:bodyPr/>
          <a:lstStyle/>
          <a:p>
            <a:fld id="{930FBF64-7D4B-41DB-ADAD-E148C5997C77}"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315A4E8-F9B2-4B80-B594-FA4297E852EA}"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30FBF64-7D4B-41DB-ADAD-E148C5997C77}"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315A4E8-F9B2-4B80-B594-FA4297E852EA}"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30FBF64-7D4B-41DB-ADAD-E148C5997C77}"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315A4E8-F9B2-4B80-B594-FA4297E852EA}"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200" indent="0">
              <a:buNone/>
              <a:defRPr sz="1400"/>
            </a:lvl2pPr>
            <a:lvl3pPr marL="914400" indent="0">
              <a:buNone/>
              <a:defRPr sz="1200"/>
            </a:lvl3pPr>
            <a:lvl4pPr marL="1370965" indent="0">
              <a:buNone/>
              <a:defRPr sz="1000"/>
            </a:lvl4pPr>
            <a:lvl5pPr marL="1828165" indent="0">
              <a:buNone/>
              <a:defRPr sz="1000"/>
            </a:lvl5pPr>
            <a:lvl6pPr marL="2285365" indent="0">
              <a:buNone/>
              <a:defRPr sz="1000"/>
            </a:lvl6pPr>
            <a:lvl7pPr marL="2742565" indent="0">
              <a:buNone/>
              <a:defRPr sz="1000"/>
            </a:lvl7pPr>
            <a:lvl8pPr marL="3199130" indent="0">
              <a:buNone/>
              <a:defRPr sz="1000"/>
            </a:lvl8pPr>
            <a:lvl9pPr marL="365633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930FBF64-7D4B-41DB-ADAD-E148C5997C7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315A4E8-F9B2-4B80-B594-FA4297E852EA}"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930FBF64-7D4B-41DB-ADAD-E148C5997C7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315A4E8-F9B2-4B80-B594-FA4297E852EA}"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930FBF64-7D4B-41DB-ADAD-E148C5997C7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315A4E8-F9B2-4B80-B594-FA4297E852EA}"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endParaRPr lang="en-US"/>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930FBF64-7D4B-41DB-ADAD-E148C5997C7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315A4E8-F9B2-4B80-B594-FA4297E852EA}" type="slidenum">
              <a:rPr lang="en-US" smtClean="0"/>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panose="020B0604020202020204"/>
              </a:rPr>
              <a:t>“</a:t>
            </a:r>
            <a:endParaRPr lang="en-US" sz="8000" baseline="0" dirty="0">
              <a:ln w="3175" cmpd="sng">
                <a:noFill/>
              </a:ln>
              <a:solidFill>
                <a:schemeClr val="accent1">
                  <a:lumMod val="60000"/>
                  <a:lumOff val="40000"/>
                </a:schemeClr>
              </a:solidFill>
              <a:effectLst/>
              <a:latin typeface="Arial" panose="020B0604020202020204"/>
            </a:endParaRP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panose="020B0604020202020204"/>
              </a:rPr>
              <a:t>”</a:t>
            </a:r>
            <a:endParaRPr lang="en-US" dirty="0">
              <a:solidFill>
                <a:schemeClr val="accent1">
                  <a:lumMod val="60000"/>
                  <a:lumOff val="40000"/>
                </a:schemeClr>
              </a:solidFill>
              <a:latin typeface="Arial" panose="020B0604020202020204"/>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930FBF64-7D4B-41DB-ADAD-E148C5997C7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315A4E8-F9B2-4B80-B594-FA4297E852EA}" type="slidenum">
              <a:rPr lang="en-US" smtClean="0"/>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endParaRPr lang="en-US"/>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930FBF64-7D4B-41DB-ADAD-E148C5997C7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315A4E8-F9B2-4B80-B594-FA4297E852EA}" type="slidenum">
              <a:rPr lang="en-US" smtClean="0"/>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panose="020B0604020202020204"/>
              </a:rPr>
              <a:t>“</a:t>
            </a:r>
            <a:endParaRPr lang="en-US" sz="8000" baseline="0" dirty="0">
              <a:ln w="3175" cmpd="sng">
                <a:noFill/>
              </a:ln>
              <a:solidFill>
                <a:schemeClr val="accent1">
                  <a:lumMod val="60000"/>
                  <a:lumOff val="40000"/>
                </a:schemeClr>
              </a:solidFill>
              <a:effectLst/>
              <a:latin typeface="Arial" panose="020B0604020202020204"/>
            </a:endParaRP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panose="020B0604020202020204"/>
              </a:rPr>
              <a:t>”</a:t>
            </a:r>
            <a:endParaRPr lang="en-US" sz="8000" baseline="0" dirty="0">
              <a:ln w="3175" cmpd="sng">
                <a:noFill/>
              </a:ln>
              <a:solidFill>
                <a:schemeClr val="accent1">
                  <a:lumMod val="60000"/>
                  <a:lumOff val="40000"/>
                </a:schemeClr>
              </a:solidFill>
              <a:effectLst/>
              <a:latin typeface="Arial" panose="020B0604020202020204"/>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endParaRPr lang="en-US"/>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930FBF64-7D4B-41DB-ADAD-E148C5997C7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315A4E8-F9B2-4B80-B594-FA4297E852EA}" type="slidenum">
              <a:rPr lang="en-US" smtClean="0"/>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930FBF64-7D4B-41DB-ADAD-E148C5997C7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315A4E8-F9B2-4B80-B594-FA4297E852EA}" type="slidenum">
              <a:rPr lang="en-US" smtClean="0"/>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930FBF64-7D4B-41DB-ADAD-E148C5997C7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315A4E8-F9B2-4B80-B594-FA4297E852EA}"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7" Type="http://schemas.openxmlformats.org/officeDocument/2006/relationships/theme" Target="../theme/theme1.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930FBF64-7D4B-41DB-ADAD-E148C5997C77}" type="datetimeFigureOut">
              <a:rPr lang="en-US" smtClean="0"/>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8315A4E8-F9B2-4B80-B594-FA4297E852EA}"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panose="05040102010807070707"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85115" y="635"/>
            <a:ext cx="11906885" cy="2528570"/>
          </a:xfrm>
        </p:spPr>
        <p:txBody>
          <a:bodyPr>
            <a:normAutofit fontScale="90000"/>
          </a:bodyPr>
          <a:lstStyle/>
          <a:p>
            <a:pPr algn="ctr"/>
            <a:r>
              <a:rPr lang="en-US" sz="5400" b="1" dirty="0">
                <a:solidFill>
                  <a:schemeClr val="tx1"/>
                </a:solidFill>
                <a:latin typeface="Bahnschrift Light Condensed" panose="020B0502040204020203" pitchFamily="34" charset="0"/>
              </a:rPr>
              <a:t>DISTRIBUTED LEARNING MANAGEMENT SYSTEM WITH SCALABLE BACKEND ARCHITECTURE</a:t>
            </a:r>
            <a:endParaRPr lang="en-US" sz="5400" b="1" dirty="0">
              <a:solidFill>
                <a:schemeClr val="tx1"/>
              </a:solidFill>
              <a:latin typeface="Bahnschrift Light Condensed" panose="020B0502040204020203" pitchFamily="34" charset="0"/>
            </a:endParaRPr>
          </a:p>
        </p:txBody>
      </p:sp>
      <p:sp>
        <p:nvSpPr>
          <p:cNvPr id="3" name="Subtitle 2"/>
          <p:cNvSpPr>
            <a:spLocks noGrp="1"/>
          </p:cNvSpPr>
          <p:nvPr>
            <p:ph type="subTitle" idx="1"/>
          </p:nvPr>
        </p:nvSpPr>
        <p:spPr>
          <a:xfrm>
            <a:off x="-245807" y="2054942"/>
            <a:ext cx="12309987" cy="4129548"/>
          </a:xfrm>
        </p:spPr>
        <p:txBody>
          <a:bodyPr>
            <a:normAutofit/>
          </a:bodyPr>
          <a:lstStyle/>
          <a:p>
            <a:pPr algn="ctr"/>
            <a:endParaRPr lang="en-US" sz="2000" b="1" dirty="0">
              <a:solidFill>
                <a:schemeClr val="tx1"/>
              </a:solidFill>
              <a:latin typeface="Bahnschrift Light" panose="020B0502040204020203" pitchFamily="34" charset="0"/>
            </a:endParaRPr>
          </a:p>
          <a:p>
            <a:pPr algn="ctr"/>
            <a:r>
              <a:rPr lang="en-US" sz="2000" b="1" dirty="0">
                <a:solidFill>
                  <a:schemeClr val="tx1"/>
                </a:solidFill>
                <a:latin typeface="Bahnschrift Light" panose="020B0502040204020203" pitchFamily="34" charset="0"/>
              </a:rPr>
              <a:t>COURSE</a:t>
            </a:r>
            <a:r>
              <a:rPr lang="en-US" sz="2000" dirty="0">
                <a:solidFill>
                  <a:schemeClr val="tx1"/>
                </a:solidFill>
                <a:latin typeface="Bahnschrift Light" panose="020B0502040204020203" pitchFamily="34" charset="0"/>
              </a:rPr>
              <a:t> : </a:t>
            </a:r>
            <a:r>
              <a:rPr lang="en-US" sz="2000" b="1" dirty="0">
                <a:solidFill>
                  <a:schemeClr val="tx1"/>
                </a:solidFill>
                <a:latin typeface="Bahnschrift Light" panose="020B0502040204020203" pitchFamily="34" charset="0"/>
              </a:rPr>
              <a:t>DATABASE SYSTEMS ENGINEERING AND </a:t>
            </a:r>
            <a:endParaRPr lang="en-US" sz="2000" b="1" dirty="0">
              <a:solidFill>
                <a:schemeClr val="tx1"/>
              </a:solidFill>
              <a:latin typeface="Bahnschrift Light" panose="020B0502040204020203" pitchFamily="34" charset="0"/>
            </a:endParaRPr>
          </a:p>
          <a:p>
            <a:pPr algn="ctr"/>
            <a:r>
              <a:rPr lang="en-US" sz="2000" b="1" dirty="0">
                <a:solidFill>
                  <a:schemeClr val="tx1"/>
                </a:solidFill>
                <a:latin typeface="Bahnschrift Light" panose="020B0502040204020203" pitchFamily="34" charset="0"/>
              </a:rPr>
              <a:t>DISTRIBUTED BACKEND DEVELOPMENT</a:t>
            </a:r>
            <a:endParaRPr lang="en-US" sz="2000" b="1" dirty="0">
              <a:solidFill>
                <a:schemeClr val="tx1"/>
              </a:solidFill>
              <a:latin typeface="Bahnschrift Light" panose="020B0502040204020203" pitchFamily="34" charset="0"/>
            </a:endParaRPr>
          </a:p>
          <a:p>
            <a:pPr algn="ctr"/>
            <a:r>
              <a:rPr lang="en-US" sz="2000" b="1" dirty="0">
                <a:solidFill>
                  <a:schemeClr val="tx1"/>
                </a:solidFill>
                <a:latin typeface="Bahnschrift Light" panose="020B0502040204020203" pitchFamily="34" charset="0"/>
              </a:rPr>
              <a:t>PRESENTED BY :</a:t>
            </a:r>
            <a:endParaRPr lang="en-US" sz="2000" b="1" dirty="0">
              <a:solidFill>
                <a:schemeClr val="tx1"/>
              </a:solidFill>
              <a:latin typeface="Bahnschrift Light" panose="020B0502040204020203" pitchFamily="34" charset="0"/>
            </a:endParaRPr>
          </a:p>
          <a:p>
            <a:pPr algn="ctr"/>
            <a:r>
              <a:rPr lang="en-US" sz="2000" b="1" dirty="0">
                <a:solidFill>
                  <a:schemeClr val="tx1"/>
                </a:solidFill>
                <a:latin typeface="Bahnschrift Light" panose="020B0502040204020203" pitchFamily="34" charset="0"/>
              </a:rPr>
              <a:t>M.RUCHEE – 2510030087</a:t>
            </a:r>
            <a:endParaRPr lang="en-US" sz="2000" b="1" dirty="0">
              <a:solidFill>
                <a:schemeClr val="tx1"/>
              </a:solidFill>
              <a:latin typeface="Bahnschrift Light" panose="020B0502040204020203" pitchFamily="34" charset="0"/>
            </a:endParaRPr>
          </a:p>
          <a:p>
            <a:pPr algn="ctr"/>
            <a:r>
              <a:rPr lang="en-US" sz="2000" b="1" dirty="0">
                <a:solidFill>
                  <a:schemeClr val="tx1"/>
                </a:solidFill>
                <a:latin typeface="Bahnschrift Light" panose="020B0502040204020203" pitchFamily="34" charset="0"/>
              </a:rPr>
              <a:t>ODDIRAJ SRIDHRUTI – 2510030016</a:t>
            </a:r>
            <a:endParaRPr lang="en-US" sz="2000" b="1" dirty="0">
              <a:solidFill>
                <a:schemeClr val="tx1"/>
              </a:solidFill>
              <a:latin typeface="Bahnschrift Light" panose="020B0502040204020203" pitchFamily="34" charset="0"/>
            </a:endParaRPr>
          </a:p>
          <a:p>
            <a:pPr algn="ctr"/>
            <a:r>
              <a:rPr lang="en-US" sz="2000" b="1" dirty="0">
                <a:solidFill>
                  <a:schemeClr val="tx1"/>
                </a:solidFill>
                <a:latin typeface="Bahnschrift Light" panose="020B0502040204020203" pitchFamily="34" charset="0"/>
              </a:rPr>
              <a:t>POOJASRI REDDY – 2510030093</a:t>
            </a:r>
            <a:endParaRPr lang="en-US" sz="2000" b="1" dirty="0">
              <a:solidFill>
                <a:schemeClr val="tx1"/>
              </a:solidFill>
              <a:latin typeface="Bahnschrift Light" panose="020B0502040204020203" pitchFamily="34" charset="0"/>
            </a:endParaRPr>
          </a:p>
          <a:p>
            <a:pPr algn="ctr"/>
            <a:endParaRPr lang="en-US" sz="2000" b="1" dirty="0">
              <a:solidFill>
                <a:schemeClr val="tx1"/>
              </a:solidFill>
              <a:latin typeface="Bahnschrift Light" panose="020B0502040204020203" pitchFamily="34" charset="0"/>
            </a:endParaRPr>
          </a:p>
          <a:p>
            <a:pPr algn="ctr"/>
            <a:r>
              <a:rPr lang="en-US" sz="3200" b="1" dirty="0">
                <a:solidFill>
                  <a:schemeClr val="tx1"/>
                </a:solidFill>
                <a:latin typeface="Bahnschrift" panose="020B0502040204020203" pitchFamily="34" charset="0"/>
              </a:rPr>
              <a:t>REVIEW – 1</a:t>
            </a:r>
            <a:endParaRPr lang="en-US" sz="3200" b="1" dirty="0">
              <a:solidFill>
                <a:schemeClr val="tx1"/>
              </a:solidFill>
              <a:latin typeface="Bahnschrift" panose="020B0502040204020203" pitchFamily="34" charset="0"/>
            </a:endParaRPr>
          </a:p>
        </p:txBody>
      </p:sp>
      <p:sp>
        <p:nvSpPr>
          <p:cNvPr id="4" name="TextBox 3"/>
          <p:cNvSpPr txBox="1"/>
          <p:nvPr/>
        </p:nvSpPr>
        <p:spPr>
          <a:xfrm>
            <a:off x="255639" y="6135329"/>
            <a:ext cx="4758813" cy="369332"/>
          </a:xfrm>
          <a:prstGeom prst="rect">
            <a:avLst/>
          </a:prstGeom>
          <a:noFill/>
        </p:spPr>
        <p:txBody>
          <a:bodyPr wrap="square" rtlCol="0">
            <a:spAutoFit/>
          </a:bodyPr>
          <a:lstStyle/>
          <a:p>
            <a:r>
              <a:rPr lang="en-US" dirty="0"/>
              <a:t>SUPERVISIOR : DR. GAYATHRI EDAMADAKA</a:t>
            </a:r>
            <a:endParaRPr lang="en-US" dirty="0"/>
          </a:p>
        </p:txBody>
      </p:sp>
      <p:sp>
        <p:nvSpPr>
          <p:cNvPr id="6" name="TextBox 5"/>
          <p:cNvSpPr txBox="1"/>
          <p:nvPr/>
        </p:nvSpPr>
        <p:spPr>
          <a:xfrm>
            <a:off x="8953044" y="6135329"/>
            <a:ext cx="2983317" cy="369332"/>
          </a:xfrm>
          <a:prstGeom prst="rect">
            <a:avLst/>
          </a:prstGeom>
          <a:noFill/>
        </p:spPr>
        <p:txBody>
          <a:bodyPr wrap="none" rtlCol="0">
            <a:spAutoFit/>
          </a:bodyPr>
          <a:lstStyle/>
          <a:p>
            <a:r>
              <a:rPr lang="en-US" dirty="0"/>
              <a:t>COLLEGE : KLH UNIVERSITY</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77545" y="609600"/>
            <a:ext cx="8596630" cy="707390"/>
          </a:xfrm>
        </p:spPr>
        <p:txBody>
          <a:bodyPr/>
          <a:p>
            <a:r>
              <a:rPr lang="en-US" altLang="en-US" sz="3200" b="1">
                <a:solidFill>
                  <a:schemeClr val="tx1"/>
                </a:solidFill>
              </a:rPr>
              <a:t>PROBLEM STATEMENT</a:t>
            </a:r>
            <a:endParaRPr lang="en-US" altLang="en-US" sz="3200" b="1">
              <a:solidFill>
                <a:schemeClr val="tx1"/>
              </a:solidFill>
            </a:endParaRPr>
          </a:p>
        </p:txBody>
      </p:sp>
      <p:sp>
        <p:nvSpPr>
          <p:cNvPr id="3" name="Content Placeholder 2"/>
          <p:cNvSpPr>
            <a:spLocks noGrp="1"/>
          </p:cNvSpPr>
          <p:nvPr>
            <p:ph idx="1"/>
          </p:nvPr>
        </p:nvSpPr>
        <p:spPr>
          <a:xfrm>
            <a:off x="677334" y="1423354"/>
            <a:ext cx="8596668" cy="3880773"/>
          </a:xfrm>
        </p:spPr>
        <p:txBody>
          <a:bodyPr/>
          <a:p>
            <a:pPr marL="0" indent="0">
              <a:buNone/>
            </a:pPr>
            <a:r>
              <a:rPr lang="en-US" altLang="en-US" sz="2600"/>
              <a:t>Many learning systems become slow and difficult to manage when the number of students and courses increases. They often struggle with handling assignments, results, notifications and secure user access efficiently. This project aims to build a Distributed Learning Management System with a Scalable Backend Architecture that provides fast, secure, and reliable learning services while supporting multiple users and easy system growth.</a:t>
            </a:r>
            <a:endParaRPr lang="en-US" altLang="en-US" sz="26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75069" y="501445"/>
            <a:ext cx="7433187" cy="584775"/>
          </a:xfrm>
          <a:prstGeom prst="rect">
            <a:avLst/>
          </a:prstGeom>
          <a:noFill/>
        </p:spPr>
        <p:txBody>
          <a:bodyPr wrap="square" rtlCol="0">
            <a:spAutoFit/>
          </a:bodyPr>
          <a:lstStyle/>
          <a:p>
            <a:r>
              <a:rPr lang="en-US" sz="3200" b="1" dirty="0"/>
              <a:t>PROJECT EXPECTED OUTCOME : </a:t>
            </a:r>
            <a:endParaRPr lang="en-US" sz="3200" b="1" dirty="0"/>
          </a:p>
        </p:txBody>
      </p:sp>
      <p:sp>
        <p:nvSpPr>
          <p:cNvPr id="3" name="TextBox 2"/>
          <p:cNvSpPr txBox="1"/>
          <p:nvPr/>
        </p:nvSpPr>
        <p:spPr>
          <a:xfrm>
            <a:off x="875071" y="1288027"/>
            <a:ext cx="10559845" cy="5262979"/>
          </a:xfrm>
          <a:prstGeom prst="rect">
            <a:avLst/>
          </a:prstGeom>
          <a:noFill/>
        </p:spPr>
        <p:txBody>
          <a:bodyPr wrap="square" rtlCol="0">
            <a:spAutoFit/>
          </a:bodyPr>
          <a:lstStyle/>
          <a:p>
            <a:pPr lvl="0"/>
            <a:r>
              <a:rPr lang="en-US" sz="2400" dirty="0"/>
              <a:t>By the end of the project, we will develop a </a:t>
            </a:r>
            <a:r>
              <a:rPr lang="en-US" sz="2400" b="1" dirty="0"/>
              <a:t>Distributed Learning Management System</a:t>
            </a:r>
            <a:r>
              <a:rPr lang="en-US" sz="2400" dirty="0"/>
              <a:t> that allows:</a:t>
            </a:r>
            <a:endParaRPr lang="en-US" sz="2400" dirty="0"/>
          </a:p>
          <a:p>
            <a:pPr marL="285750" lvl="0" indent="-285750">
              <a:buFont typeface="Arial" panose="020B0604020202020204" pitchFamily="34" charset="0"/>
              <a:buChar char="•"/>
            </a:pPr>
            <a:r>
              <a:rPr lang="en-US" sz="2400" dirty="0"/>
              <a:t>Students to register and log in. </a:t>
            </a:r>
            <a:endParaRPr lang="en-US" sz="2400" dirty="0"/>
          </a:p>
          <a:p>
            <a:pPr marL="285750" lvl="0" indent="-285750">
              <a:buFont typeface="Arial" panose="020B0604020202020204" pitchFamily="34" charset="0"/>
              <a:buChar char="•"/>
            </a:pPr>
            <a:r>
              <a:rPr lang="en-US" sz="2400" dirty="0"/>
              <a:t>Teachers to upload notes and assignments. </a:t>
            </a:r>
            <a:endParaRPr lang="en-US" sz="2400" dirty="0"/>
          </a:p>
          <a:p>
            <a:pPr marL="285750" lvl="0" indent="-285750">
              <a:buFont typeface="Arial" panose="020B0604020202020204" pitchFamily="34" charset="0"/>
              <a:buChar char="•"/>
            </a:pPr>
            <a:r>
              <a:rPr lang="en-US" sz="2400" dirty="0"/>
              <a:t>Students to submit assignments online. </a:t>
            </a:r>
            <a:endParaRPr lang="en-US" sz="2400" dirty="0"/>
          </a:p>
          <a:p>
            <a:pPr marL="285750" lvl="0" indent="-285750">
              <a:buFont typeface="Arial" panose="020B0604020202020204" pitchFamily="34" charset="0"/>
              <a:buChar char="•"/>
            </a:pPr>
            <a:r>
              <a:rPr lang="en-US" sz="2400" dirty="0"/>
              <a:t>Teachers to evaluate submissions and publish marks. </a:t>
            </a:r>
            <a:endParaRPr lang="en-US" sz="2400" dirty="0"/>
          </a:p>
          <a:p>
            <a:pPr marL="285750" lvl="0" indent="-285750">
              <a:buFont typeface="Arial" panose="020B0604020202020204" pitchFamily="34" charset="0"/>
              <a:buChar char="•"/>
            </a:pPr>
            <a:r>
              <a:rPr lang="en-US" sz="2400" dirty="0"/>
              <a:t>Admin to manage users and courses. </a:t>
            </a:r>
            <a:endParaRPr lang="en-US" sz="2400" dirty="0"/>
          </a:p>
          <a:p>
            <a:pPr marL="285750" lvl="0" indent="-285750">
              <a:buFont typeface="Arial" panose="020B0604020202020204" pitchFamily="34" charset="0"/>
              <a:buChar char="•"/>
            </a:pPr>
            <a:r>
              <a:rPr lang="en-US" sz="2400" dirty="0"/>
              <a:t>The system to be secure, scalable, and fast using a distributed backend architecture.</a:t>
            </a:r>
            <a:endParaRPr lang="en-US" sz="2400" dirty="0"/>
          </a:p>
          <a:p>
            <a:pPr marL="285750" lvl="0" indent="-285750">
              <a:buFont typeface="Arial" panose="020B0604020202020204" pitchFamily="34" charset="0"/>
              <a:buChar char="•"/>
            </a:pPr>
            <a:endParaRPr lang="en-US" sz="2400" dirty="0"/>
          </a:p>
          <a:p>
            <a:pPr marL="285750" lvl="0" indent="-285750">
              <a:buFont typeface="Arial" panose="020B0604020202020204" pitchFamily="34" charset="0"/>
              <a:buChar char="•"/>
            </a:pPr>
            <a:endParaRPr lang="en-US" sz="2400" dirty="0"/>
          </a:p>
          <a:p>
            <a:pPr lvl="0"/>
            <a:r>
              <a:rPr lang="en-US" sz="2400" b="1" dirty="0"/>
              <a:t>GITHUB</a:t>
            </a:r>
            <a:r>
              <a:rPr lang="en-US" sz="2400" dirty="0"/>
              <a:t> : https://github.com/ruxhhh/Distributed-Learning-Management-System-with-Scalable-Backend-Architecture-</a:t>
            </a:r>
            <a:endParaRPr lang="en-US" sz="2400" dirty="0"/>
          </a:p>
          <a:p>
            <a:endParaRPr lang="en-US" sz="2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80103" y="540774"/>
            <a:ext cx="11257936" cy="1077218"/>
          </a:xfrm>
          <a:prstGeom prst="rect">
            <a:avLst/>
          </a:prstGeom>
          <a:noFill/>
        </p:spPr>
        <p:txBody>
          <a:bodyPr wrap="square" rtlCol="0">
            <a:spAutoFit/>
          </a:bodyPr>
          <a:lstStyle/>
          <a:p>
            <a:r>
              <a:rPr lang="en-US" sz="3200" b="1" dirty="0"/>
              <a:t>CLARITY OF PROJECT TITLE</a:t>
            </a:r>
            <a:endParaRPr lang="en-US" sz="3200" b="1" dirty="0"/>
          </a:p>
          <a:p>
            <a:r>
              <a:rPr lang="en-US" sz="3200" b="1" dirty="0"/>
              <a:t>	</a:t>
            </a:r>
            <a:endParaRPr lang="en-US" sz="3200" b="1" dirty="0">
              <a:solidFill>
                <a:srgbClr val="FF0000"/>
              </a:solidFill>
            </a:endParaRPr>
          </a:p>
        </p:txBody>
      </p:sp>
      <p:sp>
        <p:nvSpPr>
          <p:cNvPr id="3" name="TextBox 2"/>
          <p:cNvSpPr txBox="1"/>
          <p:nvPr/>
        </p:nvSpPr>
        <p:spPr>
          <a:xfrm>
            <a:off x="673242" y="1868992"/>
            <a:ext cx="10856541" cy="4524315"/>
          </a:xfrm>
          <a:prstGeom prst="rect">
            <a:avLst/>
          </a:prstGeom>
          <a:noFill/>
        </p:spPr>
        <p:txBody>
          <a:bodyPr wrap="square" rtlCol="0">
            <a:spAutoFit/>
          </a:bodyPr>
          <a:lstStyle/>
          <a:p>
            <a:r>
              <a:rPr lang="en-US" sz="2400" b="1" dirty="0"/>
              <a:t>Why is the project title clear?</a:t>
            </a:r>
            <a:endParaRPr lang="en-US" sz="2400" b="1" dirty="0"/>
          </a:p>
          <a:p>
            <a:pPr lvl="0"/>
            <a:r>
              <a:rPr lang="en-US" sz="2400" b="1" dirty="0"/>
              <a:t>Distributed</a:t>
            </a:r>
            <a:r>
              <a:rPr lang="en-US" sz="2400" dirty="0"/>
              <a:t> means the backend is divided into multiple services, making the system faster and more reliable. </a:t>
            </a:r>
            <a:endParaRPr lang="en-US" sz="2400" dirty="0"/>
          </a:p>
          <a:p>
            <a:pPr lvl="0"/>
            <a:r>
              <a:rPr lang="en-US" sz="2400" b="1" dirty="0"/>
              <a:t>Learning Management System (LMS)</a:t>
            </a:r>
            <a:r>
              <a:rPr lang="en-US" sz="2400" dirty="0"/>
              <a:t> is an online platform where students, teachers and admin can manage learning activities. </a:t>
            </a:r>
            <a:endParaRPr lang="en-US" sz="2400" dirty="0"/>
          </a:p>
          <a:p>
            <a:pPr lvl="0"/>
            <a:r>
              <a:rPr lang="en-US" sz="2400" b="1" dirty="0"/>
              <a:t>Scalable Backend Architecture</a:t>
            </a:r>
            <a:r>
              <a:rPr lang="en-US" sz="2400" dirty="0"/>
              <a:t> means the system can handle many users and can be expanded easily in the future. </a:t>
            </a:r>
            <a:endParaRPr lang="en-US" sz="2400" dirty="0"/>
          </a:p>
          <a:p>
            <a:pPr lvl="0"/>
            <a:r>
              <a:rPr lang="en-US" sz="2400" dirty="0"/>
              <a:t>The title clearly explains the project's purpose, technology and expected functionality. </a:t>
            </a:r>
            <a:endParaRPr lang="en-US" sz="2400" dirty="0"/>
          </a:p>
          <a:p>
            <a:pPr lvl="0"/>
            <a:r>
              <a:rPr lang="en-US" sz="2400" dirty="0"/>
              <a:t>It reflects a modern solution for online education with better performance and security.</a:t>
            </a:r>
            <a:endParaRPr lang="en-US" sz="2400" dirty="0"/>
          </a:p>
          <a:p>
            <a:endParaRPr lang="en-US" sz="2400" dirty="0"/>
          </a:p>
        </p:txBody>
      </p:sp>
      <p:sp>
        <p:nvSpPr>
          <p:cNvPr id="4" name="TextBox 3"/>
          <p:cNvSpPr txBox="1"/>
          <p:nvPr/>
        </p:nvSpPr>
        <p:spPr>
          <a:xfrm>
            <a:off x="1022554" y="1160169"/>
            <a:ext cx="10962967" cy="553998"/>
          </a:xfrm>
          <a:prstGeom prst="rect">
            <a:avLst/>
          </a:prstGeom>
          <a:noFill/>
        </p:spPr>
        <p:txBody>
          <a:bodyPr wrap="square" rtlCol="0">
            <a:spAutoFit/>
          </a:bodyPr>
          <a:lstStyle/>
          <a:p>
            <a:r>
              <a:rPr lang="en-US" sz="3000" b="1" dirty="0">
                <a:solidFill>
                  <a:srgbClr val="FF0000"/>
                </a:solidFill>
              </a:rPr>
              <a:t>DISTRIBUTED LMS WITH SCALABLE BACKEND ARCHITECTURE</a:t>
            </a:r>
            <a:endParaRPr lang="en-US" sz="3000" b="1"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78423" y="275305"/>
            <a:ext cx="6074483" cy="584775"/>
          </a:xfrm>
          <a:prstGeom prst="rect">
            <a:avLst/>
          </a:prstGeom>
          <a:noFill/>
        </p:spPr>
        <p:txBody>
          <a:bodyPr wrap="none" rtlCol="0">
            <a:spAutoFit/>
          </a:bodyPr>
          <a:lstStyle/>
          <a:p>
            <a:r>
              <a:rPr lang="en-US" sz="3200" b="1" dirty="0"/>
              <a:t>PROJECT FEASIBILITY ANALYSIS</a:t>
            </a:r>
            <a:endParaRPr lang="en-US" sz="3200" b="1" dirty="0"/>
          </a:p>
        </p:txBody>
      </p:sp>
      <p:sp>
        <p:nvSpPr>
          <p:cNvPr id="3" name="TextBox 2"/>
          <p:cNvSpPr txBox="1"/>
          <p:nvPr/>
        </p:nvSpPr>
        <p:spPr>
          <a:xfrm>
            <a:off x="658756" y="943894"/>
            <a:ext cx="11350608" cy="5632311"/>
          </a:xfrm>
          <a:prstGeom prst="rect">
            <a:avLst/>
          </a:prstGeom>
          <a:noFill/>
        </p:spPr>
        <p:txBody>
          <a:bodyPr wrap="none" rtlCol="0">
            <a:spAutoFit/>
          </a:bodyPr>
          <a:lstStyle/>
          <a:p>
            <a:r>
              <a:rPr lang="en-US" sz="2400" b="1" dirty="0"/>
              <a:t>Technical Feasibility</a:t>
            </a:r>
            <a:endParaRPr lang="en-US" sz="2400" b="1" dirty="0"/>
          </a:p>
          <a:p>
            <a:pPr lvl="0"/>
            <a:r>
              <a:rPr lang="en-US" sz="2400" dirty="0"/>
              <a:t>Uses modern technologies like React, Fast API, PostgreSQL, MongoDB and Docker. </a:t>
            </a:r>
            <a:endParaRPr lang="en-US" sz="2400" dirty="0"/>
          </a:p>
          <a:p>
            <a:pPr lvl="0"/>
            <a:r>
              <a:rPr lang="en-US" sz="2400" dirty="0"/>
              <a:t>These technologies are reliable, open-source and widely used. </a:t>
            </a:r>
            <a:endParaRPr lang="en-US" sz="2400" dirty="0"/>
          </a:p>
          <a:p>
            <a:r>
              <a:rPr lang="en-US" sz="2400" b="1" dirty="0"/>
              <a:t>Operational Feasibility</a:t>
            </a:r>
            <a:endParaRPr lang="en-US" sz="2400" b="1" dirty="0"/>
          </a:p>
          <a:p>
            <a:pPr lvl="0"/>
            <a:r>
              <a:rPr lang="en-US" sz="2400" dirty="0"/>
              <a:t>Easy for students, teachers, and administrators to use. </a:t>
            </a:r>
            <a:endParaRPr lang="en-US" sz="2400" dirty="0"/>
          </a:p>
          <a:p>
            <a:pPr lvl="0"/>
            <a:r>
              <a:rPr lang="en-US" sz="2400" dirty="0"/>
              <a:t>Provides a simple and user-friendly interface. </a:t>
            </a:r>
            <a:endParaRPr lang="en-US" sz="2400" dirty="0"/>
          </a:p>
          <a:p>
            <a:r>
              <a:rPr lang="en-US" sz="2400" b="1" dirty="0"/>
              <a:t>Economic Feasibility</a:t>
            </a:r>
            <a:endParaRPr lang="en-US" sz="2400" b="1" dirty="0"/>
          </a:p>
          <a:p>
            <a:pPr lvl="0"/>
            <a:r>
              <a:rPr lang="en-US" sz="2400" dirty="0"/>
              <a:t>Built using free and open-source software. </a:t>
            </a:r>
            <a:endParaRPr lang="en-US" sz="2400" dirty="0"/>
          </a:p>
          <a:p>
            <a:pPr lvl="0"/>
            <a:r>
              <a:rPr lang="en-US" sz="2400" dirty="0"/>
              <a:t>Low development and maintenance cost. </a:t>
            </a:r>
            <a:endParaRPr lang="en-US" sz="2400" dirty="0"/>
          </a:p>
          <a:p>
            <a:r>
              <a:rPr lang="en-US" sz="2400" b="1" dirty="0"/>
              <a:t>Time Feasibility</a:t>
            </a:r>
            <a:endParaRPr lang="en-US" sz="2400" b="1" dirty="0"/>
          </a:p>
          <a:p>
            <a:pPr lvl="0"/>
            <a:r>
              <a:rPr lang="en-US" sz="2400" dirty="0"/>
              <a:t>The project can be completed within the semester. </a:t>
            </a:r>
            <a:endParaRPr lang="en-US" sz="2400" dirty="0"/>
          </a:p>
          <a:p>
            <a:pPr lvl="0"/>
            <a:r>
              <a:rPr lang="en-US" sz="2400" dirty="0"/>
              <a:t>Work is divided among team members for faster development. </a:t>
            </a:r>
            <a:endParaRPr lang="en-US" sz="2400" dirty="0"/>
          </a:p>
          <a:p>
            <a:r>
              <a:rPr lang="en-US" sz="2400" b="1" dirty="0"/>
              <a:t>Overall Feasibility</a:t>
            </a:r>
            <a:endParaRPr lang="en-US" sz="2400" b="1" dirty="0"/>
          </a:p>
          <a:p>
            <a:pPr lvl="0"/>
            <a:r>
              <a:rPr lang="en-US" sz="2400" dirty="0"/>
              <a:t>The project is practical, cost-effective, and suitable for educational institutions.</a:t>
            </a:r>
            <a:endParaRPr lang="en-US" sz="2400" dirty="0"/>
          </a:p>
          <a:p>
            <a:endParaRPr lang="en-US" sz="2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58759" y="747251"/>
            <a:ext cx="6544805" cy="584775"/>
          </a:xfrm>
          <a:prstGeom prst="rect">
            <a:avLst/>
          </a:prstGeom>
          <a:noFill/>
        </p:spPr>
        <p:txBody>
          <a:bodyPr wrap="none" rtlCol="0">
            <a:spAutoFit/>
          </a:bodyPr>
          <a:lstStyle/>
          <a:p>
            <a:r>
              <a:rPr lang="en-US" sz="3200" b="1" dirty="0"/>
              <a:t>ORIENTED WITH SOCIETAL NEEDS</a:t>
            </a:r>
            <a:endParaRPr lang="en-US" sz="3200" b="1" dirty="0"/>
          </a:p>
        </p:txBody>
      </p:sp>
      <p:sp>
        <p:nvSpPr>
          <p:cNvPr id="3" name="TextBox 2"/>
          <p:cNvSpPr txBox="1"/>
          <p:nvPr/>
        </p:nvSpPr>
        <p:spPr>
          <a:xfrm>
            <a:off x="658759" y="1445342"/>
            <a:ext cx="9447138" cy="3046988"/>
          </a:xfrm>
          <a:prstGeom prst="rect">
            <a:avLst/>
          </a:prstGeom>
          <a:noFill/>
        </p:spPr>
        <p:txBody>
          <a:bodyPr wrap="none" rtlCol="0">
            <a:spAutoFit/>
          </a:bodyPr>
          <a:lstStyle/>
          <a:p>
            <a:pPr marL="285750" lvl="0" indent="-285750">
              <a:buFont typeface="Arial" panose="020B0604020202020204" pitchFamily="34" charset="0"/>
              <a:buChar char="•"/>
            </a:pPr>
            <a:r>
              <a:rPr lang="en-US" sz="2400" dirty="0"/>
              <a:t>Supports online education and digital learning. </a:t>
            </a:r>
            <a:endParaRPr lang="en-US" sz="2400" dirty="0"/>
          </a:p>
          <a:p>
            <a:pPr marL="285750" lvl="0" indent="-285750">
              <a:buFont typeface="Arial" panose="020B0604020202020204" pitchFamily="34" charset="0"/>
              <a:buChar char="•"/>
            </a:pPr>
            <a:r>
              <a:rPr lang="en-US" sz="2400" dirty="0"/>
              <a:t>Students can access study materials anytime and from anywhere. </a:t>
            </a:r>
            <a:endParaRPr lang="en-US" sz="2400" dirty="0"/>
          </a:p>
          <a:p>
            <a:pPr marL="285750" lvl="0" indent="-285750">
              <a:buFont typeface="Arial" panose="020B0604020202020204" pitchFamily="34" charset="0"/>
              <a:buChar char="•"/>
            </a:pPr>
            <a:r>
              <a:rPr lang="en-US" sz="2400" dirty="0"/>
              <a:t>Teachers can upload notes, assignments, and quizzes easily. </a:t>
            </a:r>
            <a:endParaRPr lang="en-US" sz="2400" dirty="0"/>
          </a:p>
          <a:p>
            <a:pPr marL="285750" lvl="0" indent="-285750">
              <a:buFont typeface="Arial" panose="020B0604020202020204" pitchFamily="34" charset="0"/>
              <a:buChar char="•"/>
            </a:pPr>
            <a:r>
              <a:rPr lang="en-US" sz="2400" dirty="0"/>
              <a:t>Reduces paperwork and saves time for both students and teachers. </a:t>
            </a:r>
            <a:endParaRPr lang="en-US" sz="2400" dirty="0"/>
          </a:p>
          <a:p>
            <a:pPr marL="285750" lvl="0" indent="-285750">
              <a:buFont typeface="Arial" panose="020B0604020202020204" pitchFamily="34" charset="0"/>
              <a:buChar char="•"/>
            </a:pPr>
            <a:r>
              <a:rPr lang="en-US" sz="2400" dirty="0"/>
              <a:t>Provides secure and organized academic management. </a:t>
            </a:r>
            <a:endParaRPr lang="en-US" sz="2400" dirty="0"/>
          </a:p>
          <a:p>
            <a:pPr marL="285750" lvl="0" indent="-285750">
              <a:buFont typeface="Arial" panose="020B0604020202020204" pitchFamily="34" charset="0"/>
              <a:buChar char="•"/>
            </a:pPr>
            <a:r>
              <a:rPr lang="en-US" sz="2400" dirty="0"/>
              <a:t>Useful for schools, colleges, universities, and training institutes. </a:t>
            </a:r>
            <a:endParaRPr lang="en-US" sz="2400" dirty="0"/>
          </a:p>
          <a:p>
            <a:pPr marL="285750" lvl="0" indent="-285750">
              <a:buFont typeface="Arial" panose="020B0604020202020204" pitchFamily="34" charset="0"/>
              <a:buChar char="•"/>
            </a:pPr>
            <a:r>
              <a:rPr lang="en-US" sz="2400" dirty="0"/>
              <a:t>Encourages the use of modern technology in education.</a:t>
            </a:r>
            <a:endParaRPr lang="en-US" sz="2400" dirty="0"/>
          </a:p>
          <a:p>
            <a:pPr marL="285750" indent="-285750">
              <a:buFont typeface="Arial" panose="020B0604020202020204" pitchFamily="34" charset="0"/>
              <a:buChar char="•"/>
            </a:pPr>
            <a:endParaRPr lang="en-US" sz="2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58762" y="560438"/>
            <a:ext cx="6141297" cy="584775"/>
          </a:xfrm>
          <a:prstGeom prst="rect">
            <a:avLst/>
          </a:prstGeom>
          <a:noFill/>
        </p:spPr>
        <p:txBody>
          <a:bodyPr wrap="none" rtlCol="0">
            <a:spAutoFit/>
          </a:bodyPr>
          <a:lstStyle/>
          <a:p>
            <a:r>
              <a:rPr lang="en-US" sz="3200" b="1" dirty="0"/>
              <a:t>NOVELTY OF THE PROJECT TITLE</a:t>
            </a:r>
            <a:endParaRPr lang="en-US" sz="3200" b="1" dirty="0"/>
          </a:p>
        </p:txBody>
      </p:sp>
      <p:sp>
        <p:nvSpPr>
          <p:cNvPr id="3" name="TextBox 2"/>
          <p:cNvSpPr txBox="1"/>
          <p:nvPr/>
        </p:nvSpPr>
        <p:spPr>
          <a:xfrm>
            <a:off x="658762" y="1413892"/>
            <a:ext cx="11002296" cy="4154984"/>
          </a:xfrm>
          <a:prstGeom prst="rect">
            <a:avLst/>
          </a:prstGeom>
          <a:noFill/>
        </p:spPr>
        <p:txBody>
          <a:bodyPr wrap="square" rtlCol="0">
            <a:spAutoFit/>
          </a:bodyPr>
          <a:lstStyle/>
          <a:p>
            <a:pPr marL="342900" lvl="0" indent="-342900">
              <a:buFont typeface="Arial" panose="020B0604020202020204" pitchFamily="34" charset="0"/>
              <a:buChar char="•"/>
            </a:pPr>
            <a:r>
              <a:rPr lang="en-US" sz="2400" dirty="0"/>
              <a:t>Uses a </a:t>
            </a:r>
            <a:r>
              <a:rPr lang="en-US" sz="2400" b="1" dirty="0"/>
              <a:t>Distributed Backend Architecture</a:t>
            </a:r>
            <a:r>
              <a:rPr lang="en-US" sz="2400" dirty="0"/>
              <a:t> instead of a traditional single backend. </a:t>
            </a:r>
            <a:endParaRPr lang="en-US" sz="2400" dirty="0"/>
          </a:p>
          <a:p>
            <a:pPr marL="342900" lvl="0" indent="-342900">
              <a:buFont typeface="Arial" panose="020B0604020202020204" pitchFamily="34" charset="0"/>
              <a:buChar char="•"/>
            </a:pPr>
            <a:r>
              <a:rPr lang="en-US" sz="2400" dirty="0"/>
              <a:t>Combines </a:t>
            </a:r>
            <a:r>
              <a:rPr lang="en-US" sz="2400" b="1" dirty="0"/>
              <a:t>SQL, NoSQL, and Vector Database</a:t>
            </a:r>
            <a:r>
              <a:rPr lang="en-US" sz="2400" dirty="0"/>
              <a:t> for efficient data management. </a:t>
            </a:r>
            <a:endParaRPr lang="en-US" sz="2400" dirty="0"/>
          </a:p>
          <a:p>
            <a:pPr marL="342900" lvl="0" indent="-342900">
              <a:buFont typeface="Arial" panose="020B0604020202020204" pitchFamily="34" charset="0"/>
              <a:buChar char="•"/>
            </a:pPr>
            <a:r>
              <a:rPr lang="en-US" sz="2400" dirty="0"/>
              <a:t>Supports </a:t>
            </a:r>
            <a:r>
              <a:rPr lang="en-US" sz="2400" b="1" dirty="0"/>
              <a:t>AI-powered Smart Search</a:t>
            </a:r>
            <a:r>
              <a:rPr lang="en-US" sz="2400" dirty="0"/>
              <a:t> for finding study materials quickly. </a:t>
            </a:r>
            <a:endParaRPr lang="en-US" sz="2400" dirty="0"/>
          </a:p>
          <a:p>
            <a:pPr marL="342900" lvl="0" indent="-342900">
              <a:buFont typeface="Arial" panose="020B0604020202020204" pitchFamily="34" charset="0"/>
              <a:buChar char="•"/>
            </a:pPr>
            <a:r>
              <a:rPr lang="en-US" sz="2400" dirty="0"/>
              <a:t>Provides secure authentication using </a:t>
            </a:r>
            <a:r>
              <a:rPr lang="en-US" sz="2400" b="1" dirty="0"/>
              <a:t>JWT</a:t>
            </a:r>
            <a:r>
              <a:rPr lang="en-US" sz="2400" dirty="0"/>
              <a:t> and role-based access. </a:t>
            </a:r>
            <a:endParaRPr lang="en-US" sz="2400" dirty="0"/>
          </a:p>
          <a:p>
            <a:pPr marL="342900" lvl="0" indent="-342900">
              <a:buFont typeface="Arial" panose="020B0604020202020204" pitchFamily="34" charset="0"/>
              <a:buChar char="•"/>
            </a:pPr>
            <a:r>
              <a:rPr lang="en-US" sz="2400" dirty="0"/>
              <a:t>Designed to be scalable, secure, and easy to maintain. </a:t>
            </a:r>
            <a:endParaRPr lang="en-US" sz="2400" dirty="0"/>
          </a:p>
          <a:p>
            <a:pPr marL="342900" lvl="0" indent="-342900">
              <a:buFont typeface="Arial" panose="020B0604020202020204" pitchFamily="34" charset="0"/>
              <a:buChar char="•"/>
            </a:pPr>
            <a:r>
              <a:rPr lang="en-US" sz="2400" dirty="0"/>
              <a:t>Future features like AI chatbot, mobile app, and analytics can be added without changing the complete system. </a:t>
            </a:r>
            <a:endParaRPr lang="en-US" sz="2400" dirty="0"/>
          </a:p>
          <a:p>
            <a:pPr marL="342900" lvl="0" indent="-342900">
              <a:buFont typeface="Arial" panose="020B0604020202020204" pitchFamily="34" charset="0"/>
              <a:buChar char="•"/>
            </a:pPr>
            <a:r>
              <a:rPr lang="en-US" sz="2400" dirty="0"/>
              <a:t>Combines modern backend engineering concepts into one educational platform</a:t>
            </a:r>
            <a:endParaRPr lang="en-US" sz="2400" dirty="0"/>
          </a:p>
          <a:p>
            <a:pPr marL="342900" indent="-342900">
              <a:buFont typeface="Arial" panose="020B0604020202020204" pitchFamily="34" charset="0"/>
              <a:buChar char="•"/>
            </a:pPr>
            <a:endParaRPr lang="en-US" sz="2400" dirty="0"/>
          </a:p>
        </p:txBody>
      </p:sp>
    </p:spTree>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0</TotalTime>
  <Words>3539</Words>
  <Application>WPS Presentation</Application>
  <PresentationFormat>Widescreen</PresentationFormat>
  <Paragraphs>86</Paragraphs>
  <Slides>7</Slides>
  <Notes>0</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7</vt:i4>
      </vt:variant>
    </vt:vector>
  </HeadingPairs>
  <TitlesOfParts>
    <vt:vector size="20" baseType="lpstr">
      <vt:lpstr>Arial</vt:lpstr>
      <vt:lpstr>SimSun</vt:lpstr>
      <vt:lpstr>Wingdings</vt:lpstr>
      <vt:lpstr>Wingdings 3</vt:lpstr>
      <vt:lpstr>Arial</vt:lpstr>
      <vt:lpstr>Bahnschrift Light Condensed</vt:lpstr>
      <vt:lpstr>Bahnschrift Light</vt:lpstr>
      <vt:lpstr>Bahnschrift</vt:lpstr>
      <vt:lpstr>Trebuchet MS</vt:lpstr>
      <vt:lpstr>Microsoft YaHei</vt:lpstr>
      <vt:lpstr>Arial Unicode MS</vt:lpstr>
      <vt:lpstr>Calibri</vt:lpstr>
      <vt:lpstr>Facet</vt:lpstr>
      <vt:lpstr>DISTRIBUTED LEARNING MANAGEMENT SYSTEM WITH SCALABLE BACKEND ARCHITECTURE</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mruchee29@outlook.com</dc:creator>
  <cp:lastModifiedBy>ruchee</cp:lastModifiedBy>
  <cp:revision>3</cp:revision>
  <dcterms:created xsi:type="dcterms:W3CDTF">2026-08-02T16:42:00Z</dcterms:created>
  <dcterms:modified xsi:type="dcterms:W3CDTF">2026-08-04T06:59:14Z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1033-12.1.0.28032</vt:lpwstr>
  </property>
  <property fmtid="{D5CDD505-2E9C-101B-9397-08002B2CF9AE}" pid="3" name="ICV">
    <vt:lpwstr>CC5C2DEC38604EB39890EA0322AD205E_13</vt:lpwstr>
  </property>
</Properties>
</file>